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0" cy="4709160"/>
          </a:xfrm>
          <a:prstGeom prst="rect">
            <a:avLst/>
          </a:prstGeom>
          <a:solidFill>
            <a:srgbClr val="0B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43891200" cy="137160"/>
          </a:xfrm>
          <a:prstGeom prst="rect">
            <a:avLst/>
          </a:prstGeom>
          <a:solidFill>
            <a:srgbClr val="00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20040"/>
            <a:ext cx="3182111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Vibrational Elastography vs. FIB-4 and High-Sensitivity C-Reactive Protein in Advanced Cardiovascular-Kidney-Metabolic Syndrome: NHANES 2017–2023 Study</a:t>
            </a:r>
          </a:p>
          <a:p>
            <a:pPr>
              <a:spcAft>
                <a:spcPts val="600"/>
              </a:spcAft>
            </a:pPr>
            <a:r>
              <a:rPr b="1" sz="2200">
                <a:solidFill>
                  <a:srgbClr val="F5E6B3"/>
                </a:solidFill>
              </a:rPr>
              <a:t>Dhruv Gambhirrao</a:t>
            </a:r>
            <a:r>
              <a:rPr b="1" sz="1400">
                <a:solidFill>
                  <a:srgbClr val="F5E6B3"/>
                </a:solidFill>
              </a:rPr>
              <a:t>1,*</a:t>
            </a:r>
            <a:r>
              <a:rPr b="1" sz="2200">
                <a:solidFill>
                  <a:srgbClr val="FFFFFF"/>
                </a:solidFill>
              </a:rPr>
              <a:t>, Devpal Ghuman</a:t>
            </a:r>
            <a:r>
              <a:rPr b="1" sz="1400">
                <a:solidFill>
                  <a:srgbClr val="FFFFFF"/>
                </a:solidFill>
              </a:rPr>
              <a:t>1</a:t>
            </a:r>
            <a:r>
              <a:rPr b="1" sz="2200">
                <a:solidFill>
                  <a:srgbClr val="FFFFFF"/>
                </a:solidFill>
              </a:rPr>
              <a:t>, Tarun Achar</a:t>
            </a:r>
            <a:r>
              <a:rPr b="1" sz="1400">
                <a:solidFill>
                  <a:srgbClr val="FFFFFF"/>
                </a:solidFill>
              </a:rPr>
              <a:t>1</a:t>
            </a:r>
          </a:p>
          <a:p>
            <a:pPr>
              <a:defRPr sz="1700">
                <a:solidFill>
                  <a:srgbClr val="CBD5E1"/>
                </a:solidFill>
                <a:latin typeface="Arial"/>
              </a:defRPr>
            </a:pPr>
            <a:r>
              <a:t>1 Department of Biological Sciences, University of North Texas, Denton, TX, USA   |   * Corresponding Author: dhruvgambhirrao@my.unt.edu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0" y="502920"/>
            <a:ext cx="9601200" cy="3749039"/>
          </a:xfrm>
          <a:prstGeom prst="roundRect">
            <a:avLst/>
          </a:prstGeom>
          <a:solidFill>
            <a:srgbClr val="133863"/>
          </a:solidFill>
          <a:ln w="25400">
            <a:solidFill>
              <a:srgbClr val="008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Aft>
                <a:spcPts val="600"/>
              </a:spcAft>
              <a:defRPr sz="1800" b="1">
                <a:solidFill>
                  <a:srgbClr val="F5E6B3"/>
                </a:solidFill>
                <a:latin typeface="Arial"/>
              </a:defRPr>
            </a:pPr>
            <a:r>
              <a:t>UNIVERSITY OF NORTH TEXAS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✔ AHA Cardiovascular-Kidney-Metabolic (CKM) Framework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✔ CDC Continuous NHANES 2017–2023 Cohort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✔ Primary Sample: N = 7,043 (130.8 Million US Adults)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✔ Complex Survey Design: df = 40 (Taylor Linearization)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✔ Pre-Specified Biostatistical Reproducibility Protocol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212080"/>
            <a:ext cx="9601200" cy="2551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0" y="5212080"/>
            <a:ext cx="9601200" cy="2551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945600" y="5212080"/>
            <a:ext cx="9601200" cy="2551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0" y="5212080"/>
            <a:ext cx="10515600" cy="2551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5394960"/>
            <a:ext cx="9235440" cy="548640"/>
          </a:xfrm>
          <a:prstGeom prst="rect">
            <a:avLst/>
          </a:prstGeom>
          <a:solidFill>
            <a:srgbClr val="0B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1. INTRODUCTION &amp; HYPOTHESIS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6035040"/>
            <a:ext cx="9235440" cy="6217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AHA CKM Framework (2023): </a:t>
            </a:r>
            <a:r>
              <a:rPr sz="1450">
                <a:solidFill>
                  <a:srgbClr val="1E293B"/>
                </a:solidFill>
              </a:rPr>
              <a:t>Defines Cardiovascular-Kidney-Metabolic syndrome (Stages 0–4) linking metabolic adiposity, chronic kidney disease (CKD), and cardiovascular disease (CVD).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Hepatic Fibrosis Burden: </a:t>
            </a:r>
            <a:r>
              <a:rPr sz="1450">
                <a:solidFill>
                  <a:srgbClr val="1E293B"/>
                </a:solidFill>
              </a:rPr>
              <a:t>Metabolic dysfunction-associated steatotic liver disease (MASLD) affects &gt;30% of US adults. Hepatic fibrosis drives vascular and renal injury via pro-inflammatory cytokines and systemic endothelial dysfunction.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FIB-4 Formula Flaw: </a:t>
            </a:r>
            <a:r>
              <a:rPr sz="1450">
                <a:solidFill>
                  <a:srgbClr val="1E293B"/>
                </a:solidFill>
              </a:rPr>
              <a:t>Guidelines (AASLD/ADA) recommend FIB-4 for primary care screening. However, chronological age is in the numerator, generating severe false-positive inflation in older populations.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Study Hypothesis: </a:t>
            </a:r>
            <a:r>
              <a:rPr sz="1450">
                <a:solidFill>
                  <a:srgbClr val="1E293B"/>
                </a:solidFill>
              </a:rPr>
              <a:t>Physical liver stiffness (VCTE FibroScan) and vascular inflammation (hs-CRP) synergistically accelerate advanced CKM syndrome (Stages 3–4), and direct VCTE eliminates age-dependent diagnostic distortion relative to FIB-4.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12435840"/>
            <a:ext cx="9235440" cy="548640"/>
          </a:xfrm>
          <a:prstGeom prst="rect">
            <a:avLst/>
          </a:prstGeom>
          <a:solidFill>
            <a:srgbClr val="0B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2. POPULATION &amp; SURVEY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3075920"/>
            <a:ext cx="9235440" cy="5852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Survey Cycles: </a:t>
            </a:r>
            <a:r>
              <a:rPr sz="1450">
                <a:solidFill>
                  <a:srgbClr val="1E293B"/>
                </a:solidFill>
              </a:rPr>
              <a:t>Continuous CDC NHANES 2017–March 2020 (P_) and 2021–2023 (_L) probability sample of civilian non-institutionalized US adults.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Design Universe Preservation: </a:t>
            </a:r>
            <a:r>
              <a:rPr sz="1450">
                <a:solidFill>
                  <a:srgbClr val="1E293B"/>
                </a:solidFill>
              </a:rPr>
              <a:t>Retaining all N = 27,493 raw participants preserved survey variance degrees of freedom (df = 40) across 79 stratum-PSU units via Taylor series linearization.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Primary Analytic Cohort (N = 7,043): </a:t>
            </a:r>
            <a:r>
              <a:rPr sz="1450">
                <a:solidFill>
                  <a:srgbClr val="1E293B"/>
                </a:solidFill>
              </a:rPr>
              <a:t>Complete-case adults aged 30–79 with reliable VCTE exams (≥10 valid measures, IQR/M ≤30.0%, ≥3h fast) and bridged serum hs-CRP, representing 130.8 million US adults.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Secondary Adult Cohort (N = 11,585): </a:t>
            </a:r>
            <a:r>
              <a:rPr sz="1450">
                <a:solidFill>
                  <a:srgbClr val="1E293B"/>
                </a:solidFill>
              </a:rPr>
              <a:t>Extended population aged ≥20 years with complete core biomarkers for external outcome validation.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19110960"/>
            <a:ext cx="9235440" cy="548640"/>
          </a:xfrm>
          <a:prstGeom prst="rect">
            <a:avLst/>
          </a:prstGeom>
          <a:solidFill>
            <a:srgbClr val="0B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3. BASELINE CHARACTERISTICS (N = 7,043)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097280" y="19751040"/>
          <a:ext cx="9235440" cy="987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011680"/>
                <a:gridCol w="3291840"/>
              </a:tblGrid>
              <a:tr h="987552"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Clinical / Biomarker Parameter</a:t>
                      </a:r>
                    </a:p>
                  </a:txBody>
                  <a:tcPr marL="91440" marR="91440" marT="36576" marB="36576">
                    <a:solidFill>
                      <a:srgbClr val="1338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Sample (n)</a:t>
                      </a:r>
                    </a:p>
                  </a:txBody>
                  <a:tcPr marL="91440" marR="91440" marT="36576" marB="36576">
                    <a:solidFill>
                      <a:srgbClr val="1338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Weighted % / Mean (95% CI)</a:t>
                      </a:r>
                    </a:p>
                  </a:txBody>
                  <a:tcPr marL="91440" marR="91440" marT="36576" marB="36576">
                    <a:solidFill>
                      <a:srgbClr val="133863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Advanced CKM Syndrome (Stages 3–4)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1,246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13.8% (12.5–15.1%)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Clinically Significant Fibrosis (VCTE ≥8.0 kPa)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817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10.5% (9.6–11.5%)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High Systemic hs-CRP (≥2.0 mg/L)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3,344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45.6% (43.4–47.9%)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Hepatic Steatosis (CAP ≥274 dB/m)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3,322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46.0% (44.5–47.5%)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Elevated Formula FIB-4 (≥1.30)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2,079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25.3% (23.1–27.6%)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Diabetes Mellitus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1,472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15.1% (14.1–16.2%)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Hypertension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3,845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52.9% (50.8–54.9%)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Kidney Abnormality (eGFR&lt;60 or UACR ≥30)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1,061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12.5% (11.5–13.5%)</a:t>
                      </a:r>
                    </a:p>
                  </a:txBody>
                  <a:tcPr marL="91440" marR="91440" marT="36576" marB="36576">
                    <a:solidFill>
                      <a:srgbClr val="F1F5F9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Overt Clinical CVD (CKM Stage 4)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812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9.5% (8.3–10.9%)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097280" y="29718000"/>
            <a:ext cx="9235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748B"/>
                </a:solidFill>
                <a:latin typeface="Arial"/>
              </a:defRPr>
            </a:pPr>
            <a:r>
              <a:t>Estimates use duration-weighted WTMECPRP &amp; WTPH2YR examination weights. CKD evaluated via race-free 2021 CKD-EPI equations; Stage 3 includes PREVENT 10y CVD risk ≥20%.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612880" y="5394960"/>
            <a:ext cx="9235440" cy="548640"/>
          </a:xfrm>
          <a:prstGeom prst="rect">
            <a:avLst/>
          </a:prstGeom>
          <a:solidFill>
            <a:srgbClr val="0B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4. PRIMARY MULTIVARIABLE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0" y="6035040"/>
            <a:ext cx="92354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Co-Primary Model 2 (df = 40): </a:t>
            </a:r>
            <a:r>
              <a:rPr sz="1450">
                <a:solidFill>
                  <a:srgbClr val="1E293B"/>
                </a:solidFill>
              </a:rPr>
              <a:t>Adjusted for age (per 10y), sex, race/ethnicity, survey cycle, poverty-to-income ratio, education, BMI (per 5 kg/m²), and waist circumference (per 10 cm).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Group 0 (Neither Elevated; n=3,416): </a:t>
            </a:r>
            <a:r>
              <a:rPr sz="1450">
                <a:solidFill>
                  <a:srgbClr val="1E293B"/>
                </a:solidFill>
              </a:rPr>
              <a:t>1.00 (Reference Category)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Group 1 (Isolated High hs-CRP; n=2,810): </a:t>
            </a:r>
            <a:r>
              <a:rPr sz="1450">
                <a:solidFill>
                  <a:srgbClr val="1E293B"/>
                </a:solidFill>
              </a:rPr>
              <a:t>aOR = 1.26 (95% CI: 1.02–1.55, p = 0.034)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Group 2 (Isolated High VCTE; n=283): </a:t>
            </a:r>
            <a:r>
              <a:rPr sz="1450">
                <a:solidFill>
                  <a:srgbClr val="1E293B"/>
                </a:solidFill>
              </a:rPr>
              <a:t>aOR = 0.85 (95% CI: 0.53–1.35, p = 0.485)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Group 3 (Dual High VCTE + hs-CRP; n=534): </a:t>
            </a:r>
            <a:r>
              <a:rPr sz="1450">
                <a:solidFill>
                  <a:srgbClr val="1E293B"/>
                </a:solidFill>
              </a:rPr>
              <a:t>aOR = 2.01 (95% CI: 1.39–2.92, p &lt; 0.001)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612880" y="10058400"/>
            <a:ext cx="9235440" cy="3931920"/>
          </a:xfrm>
          <a:prstGeom prst="roundRect">
            <a:avLst/>
          </a:prstGeom>
          <a:solidFill>
            <a:srgbClr val="E8F5E9"/>
          </a:solidFill>
          <a:ln w="31750">
            <a:solidFill>
              <a:srgbClr val="008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95760" y="10149840"/>
            <a:ext cx="88696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4532D"/>
                </a:solidFill>
                <a:latin typeface="Arial"/>
              </a:defRPr>
            </a:pPr>
            <a:r>
              <a:t>SUPRA-ADDITIVE &amp; MULTIPLICATIVE SYNERGY (df = 40)</a:t>
            </a:r>
          </a:p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300">
                <a:solidFill>
                  <a:srgbClr val="14532D"/>
                </a:solidFill>
              </a:rPr>
              <a:t>✦ Multiplicative Interaction: </a:t>
            </a:r>
            <a:r>
              <a:rPr sz="1300">
                <a:solidFill>
                  <a:srgbClr val="1E293B"/>
                </a:solidFill>
              </a:rPr>
              <a:t>p = 0.0185 (Ratio of ORs = 1.88, 95% CI: 1.11–3.18)</a:t>
            </a:r>
          </a:p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300">
                <a:solidFill>
                  <a:srgbClr val="14532D"/>
                </a:solidFill>
              </a:rPr>
              <a:t>✦ Odds-Scale RERI: </a:t>
            </a:r>
            <a:r>
              <a:rPr sz="1300">
                <a:solidFill>
                  <a:srgbClr val="1E293B"/>
                </a:solidFill>
              </a:rPr>
              <a:t>0.91 (95% CI: 0.19–1.63, p = 0.014) — Positive Supra-Additivity!</a:t>
            </a:r>
          </a:p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300">
                <a:solidFill>
                  <a:srgbClr val="14532D"/>
                </a:solidFill>
              </a:rPr>
              <a:t>✦ Attributable Proportion (AP): </a:t>
            </a:r>
            <a:r>
              <a:rPr sz="1300">
                <a:solidFill>
                  <a:srgbClr val="1E293B"/>
                </a:solidFill>
              </a:rPr>
              <a:t>0.45 (95% CI: 0.20–0.70; 45% of dual-high risk reflects synergy)</a:t>
            </a:r>
          </a:p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300">
                <a:solidFill>
                  <a:srgbClr val="14532D"/>
                </a:solidFill>
              </a:rPr>
              <a:t>✦ Standardized Prevalence Excess: </a:t>
            </a:r>
            <a:r>
              <a:rPr sz="1300">
                <a:solidFill>
                  <a:srgbClr val="1E293B"/>
                </a:solidFill>
              </a:rPr>
              <a:t>+5.9 percentage points (95% CI: 1.3–10.5 pp, p = 0.011)</a:t>
            </a:r>
          </a:p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300">
                <a:solidFill>
                  <a:srgbClr val="14532D"/>
                </a:solidFill>
              </a:rPr>
              <a:t>✦ Prevalence-Scale RERI &amp; AP: </a:t>
            </a:r>
            <a:r>
              <a:rPr sz="1300">
                <a:solidFill>
                  <a:srgbClr val="1E293B"/>
                </a:solidFill>
              </a:rPr>
              <a:t>RERI_PR = 0.47 (95% CI: 0.12–0.83); AP_PR = 31.0% (10.4–51.7%)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612880" y="14173200"/>
            <a:ext cx="9235440" cy="548640"/>
          </a:xfrm>
          <a:prstGeom prst="rect">
            <a:avLst/>
          </a:prstGeom>
          <a:solidFill>
            <a:srgbClr val="0B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5. MULTIVARIABLE FOREST PLOT</a:t>
            </a:r>
          </a:p>
        </p:txBody>
      </p:sp>
      <p:pic>
        <p:nvPicPr>
          <p:cNvPr id="23" name="Picture 22" descr="figure_1_vcte_crp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0" y="14813280"/>
            <a:ext cx="9235440" cy="485965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612880" y="20116800"/>
            <a:ext cx="9235440" cy="10332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B2347"/>
                </a:solidFill>
                <a:latin typeface="Arial"/>
              </a:defRPr>
            </a:pPr>
            <a:r>
              <a:t>Key Subgroup &amp; Model Robustness Findings: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Liver Fibrosis as Inflammatory Trigger: </a:t>
            </a:r>
            <a:r>
              <a:rPr sz="1450">
                <a:solidFill>
                  <a:srgbClr val="1E293B"/>
                </a:solidFill>
              </a:rPr>
              <a:t>Isolated physical liver stiffness without elevated inflammation did not increase advanced CKM odds (aOR: 0.85, 95% CI: 0.53–1.35). Fibrosis acts predominantly as a multi-organ risk multiplier in the presence of active systemic vascular inflammation.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Model Progression: </a:t>
            </a:r>
            <a:r>
              <a:rPr sz="1450">
                <a:solidFill>
                  <a:srgbClr val="1E293B"/>
                </a:solidFill>
              </a:rPr>
              <a:t>Demographic-adjusted Model 1 yielded dual-high aOR = 3.55 (95% CI: 2.59–4.87, RERI = 1.80). Extended clinical Model 3 (adding SBP, HbA1c, lipids, medications) retained robust association: aOR = 1.71 (95% CI: 1.17–2.49, RERI = 0.76).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Sensitivity Validation: </a:t>
            </a:r>
            <a:r>
              <a:rPr sz="1450">
                <a:solidFill>
                  <a:srgbClr val="1E293B"/>
                </a:solidFill>
              </a:rPr>
              <a:t>Results remained stable under flexible 5-knot age splines (aOR: 2.01, 95% CI: 1.39–2.92) and uniform PREVENT domains (aOR: 2.02, 95% CI: 1.39–2.94).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128480" y="5394960"/>
            <a:ext cx="9235440" cy="548640"/>
          </a:xfrm>
          <a:prstGeom prst="rect">
            <a:avLst/>
          </a:prstGeom>
          <a:solidFill>
            <a:srgbClr val="0B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6. FORMULA FIB-4 VS. PHYSICAL VCTE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128480" y="6035040"/>
            <a:ext cx="92354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Diagnostic Reference: </a:t>
            </a:r>
            <a:r>
              <a:rPr sz="1450">
                <a:solidFill>
                  <a:srgbClr val="1E293B"/>
                </a:solidFill>
              </a:rPr>
              <a:t>Physical VCTE liver stiffness ≥8.0 kPa was evaluated as the non-invasive reference standard for significant fibrosis.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Overall Adult Sensitivity: </a:t>
            </a:r>
            <a:r>
              <a:rPr sz="1450">
                <a:solidFill>
                  <a:srgbClr val="1E293B"/>
                </a:solidFill>
              </a:rPr>
              <a:t>FIB-4 ≥1.30 identified only 34.8% (95% CI: 30.1–39.8%) of physical fibrosis cases in the general population.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Low Positive Predictive Value: </a:t>
            </a:r>
            <a:r>
              <a:rPr sz="1450">
                <a:solidFill>
                  <a:srgbClr val="1E293B"/>
                </a:solidFill>
              </a:rPr>
              <a:t>PPV was only 14.5% (95% CI: 12.5–16.7%), indicating 85.5% of positive tests in unselected adults are false positives.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128480" y="10058400"/>
            <a:ext cx="9235440" cy="3931920"/>
          </a:xfrm>
          <a:prstGeom prst="roundRect">
            <a:avLst/>
          </a:prstGeom>
          <a:solidFill>
            <a:srgbClr val="FFF5F5"/>
          </a:solidFill>
          <a:ln w="3175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311360" y="10149840"/>
            <a:ext cx="88696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9B2C2C"/>
                </a:solidFill>
                <a:latin typeface="Arial"/>
              </a:defRPr>
            </a:pPr>
            <a:r>
              <a:t>THE 4.5× GERIATRIC FALSE-POSITIVE EXPLOSION</a:t>
            </a:r>
          </a:p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300">
                <a:solidFill>
                  <a:srgbClr val="9B2C2C"/>
                </a:solidFill>
              </a:rPr>
              <a:t>⚠ Younger Adults (Ages 30–64): </a:t>
            </a:r>
            <a:r>
              <a:rPr sz="1300">
                <a:solidFill>
                  <a:srgbClr val="1E293B"/>
                </a:solidFill>
              </a:rPr>
              <a:t>FPR = 14.3% | Specificity = 85.7% | PPV = 15.8%</a:t>
            </a:r>
          </a:p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300">
                <a:solidFill>
                  <a:srgbClr val="9B2C2C"/>
                </a:solidFill>
              </a:rPr>
              <a:t>⚠ Older Adults (Ages 65–79): </a:t>
            </a:r>
            <a:r>
              <a:rPr sz="1300">
                <a:solidFill>
                  <a:srgbClr val="1E293B"/>
                </a:solidFill>
              </a:rPr>
              <a:t>FPR surges to 63.8%! | Specificity drops to 36.2% | PPV = 13.2%</a:t>
            </a:r>
          </a:p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300">
                <a:solidFill>
                  <a:srgbClr val="9B2C2C"/>
                </a:solidFill>
              </a:rPr>
              <a:t>⚠ Mechanism: </a:t>
            </a:r>
            <a:r>
              <a:rPr sz="1300">
                <a:solidFill>
                  <a:srgbClr val="1E293B"/>
                </a:solidFill>
              </a:rPr>
              <a:t>Chronological age in formula numerator creates massive false alarms in elderly.</a:t>
            </a:r>
          </a:p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300">
                <a:solidFill>
                  <a:srgbClr val="9B2C2C"/>
                </a:solidFill>
              </a:rPr>
              <a:t>⚠ Age-Calibrated Cutoff (≥2.00): </a:t>
            </a:r>
            <a:r>
              <a:rPr sz="1300">
                <a:solidFill>
                  <a:srgbClr val="1E293B"/>
                </a:solidFill>
              </a:rPr>
              <a:t>Suppresses older FPR to 17.5% (Specificity 82.5%, PPV 19.9%)...</a:t>
            </a:r>
          </a:p>
          <a:p>
            <a:pPr>
              <a:spcAft>
                <a:spcPts val="300"/>
              </a:spcAft>
              <a:defRPr>
                <a:latin typeface="Arial"/>
              </a:defRPr>
            </a:pPr>
            <a:r>
              <a:rPr b="1" sz="1300">
                <a:solidFill>
                  <a:srgbClr val="9B2C2C"/>
                </a:solidFill>
              </a:rPr>
              <a:t>⚠ Severe Sensitivity Trade-off: </a:t>
            </a:r>
            <a:r>
              <a:rPr sz="1300">
                <a:solidFill>
                  <a:srgbClr val="1E293B"/>
                </a:solidFill>
              </a:rPr>
              <a:t>Sensitivity collapses from 64.6% → 29.0% (missing &gt;70% of true cases)!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128480" y="14173200"/>
            <a:ext cx="9235440" cy="548640"/>
          </a:xfrm>
          <a:prstGeom prst="rect">
            <a:avLst/>
          </a:prstGeom>
          <a:solidFill>
            <a:srgbClr val="0B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7. EMPIRICAL ROC &amp; DISCRIMINATION</a:t>
            </a:r>
          </a:p>
        </p:txBody>
      </p:sp>
      <p:pic>
        <p:nvPicPr>
          <p:cNvPr id="30" name="Picture 29" descr="figure_2_vcte_vs_fib4_diagno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0" y="14813280"/>
            <a:ext cx="9235440" cy="405296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2128480" y="19476720"/>
            <a:ext cx="9235440" cy="10972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B2347"/>
                </a:solidFill>
                <a:latin typeface="Arial"/>
              </a:defRPr>
            </a:pPr>
            <a:r>
              <a:t>Multivariable Discrimination (C-Statistics, df = 40):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Base Model 2 (Demographics + Adiposity): </a:t>
            </a:r>
            <a:r>
              <a:rPr sz="1450">
                <a:solidFill>
                  <a:srgbClr val="1E293B"/>
                </a:solidFill>
              </a:rPr>
              <a:t>AUC = 0.8636 (95% CI: 0.8495–0.8777).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Model 2 + Continuous VCTE Stiffness: </a:t>
            </a:r>
            <a:r>
              <a:rPr sz="1450">
                <a:solidFill>
                  <a:srgbClr val="1E293B"/>
                </a:solidFill>
              </a:rPr>
              <a:t>AUC = 0.8636 (95% CI: 0.8494–0.8777).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Model 2 + Formula FIB-4 Score: </a:t>
            </a:r>
            <a:r>
              <a:rPr sz="1450">
                <a:solidFill>
                  <a:srgbClr val="1E293B"/>
                </a:solidFill>
              </a:rPr>
              <a:t>AUC = 0.8638 (95% CI: 0.8496–0.8780).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Model 2 + Dual VCTE + hs-CRP: </a:t>
            </a:r>
            <a:r>
              <a:rPr sz="1450">
                <a:solidFill>
                  <a:srgbClr val="1E293B"/>
                </a:solidFill>
              </a:rPr>
              <a:t>AUC = 0.8643 (95% CI: 0.8503–0.8783).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Key Clinical Takeaway: </a:t>
            </a:r>
            <a:r>
              <a:rPr sz="1450">
                <a:solidFill>
                  <a:srgbClr val="1E293B"/>
                </a:solidFill>
              </a:rPr>
              <a:t>FIB-4 and VCTE show virtually identical overall statistical discrimination (ΔAUC = -0.0002, 95% CI: -0.0013 to 0.0009). However, standard FIB-4 severely distorts diagnostic referral patterns by misclassifying nearly two-thirds of healthy older adults.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644080" y="5394960"/>
            <a:ext cx="10149840" cy="548640"/>
          </a:xfrm>
          <a:prstGeom prst="rect">
            <a:avLst/>
          </a:prstGeom>
          <a:solidFill>
            <a:srgbClr val="0B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8. SECONDARY MULTI-ORGAN OUTCOMES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44080" y="6035040"/>
            <a:ext cx="1014984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Chronic Kidney Disease (CKD): </a:t>
            </a:r>
            <a:r>
              <a:rPr sz="1450">
                <a:solidFill>
                  <a:srgbClr val="1E293B"/>
                </a:solidFill>
              </a:rPr>
              <a:t>Dual High phenotype had the strongest combined association with CKD (eGFR &lt;60 or UACR ≥30): aOR = 2.36 (95% CI: 1.70–3.28, p &lt; 0.001; RERI = 0.93).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Overt Clinical CVD: </a:t>
            </a:r>
            <a:r>
              <a:rPr sz="1450">
                <a:solidFill>
                  <a:srgbClr val="1E293B"/>
                </a:solidFill>
              </a:rPr>
              <a:t>Dual High phenotype independently doubled clinical cardiovascular event odds: aOR = 1.50 (95% CI: 1.01–2.23, p = 0.048; RERI = 0.59).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Secondary Adult Cohort (N = 11,585, Age ≥20): </a:t>
            </a:r>
            <a:r>
              <a:rPr sz="1450">
                <a:solidFill>
                  <a:srgbClr val="1E293B"/>
                </a:solidFill>
              </a:rPr>
              <a:t>Validation in all adults confirmed persistent associations: CKD aOR = 2.28 (95% CI: 1.73–3.01); Clinical CVD aOR = 1.52 (95% CI: 1.09–2.12).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644080" y="11521440"/>
            <a:ext cx="10149840" cy="548640"/>
          </a:xfrm>
          <a:prstGeom prst="rect">
            <a:avLst/>
          </a:prstGeom>
          <a:solidFill>
            <a:srgbClr val="0B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9. CLINICAL &amp; TRANSLATIONAL IMPACT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644080" y="12161520"/>
            <a:ext cx="10149840" cy="6400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1. Primary Care Triage Reform: </a:t>
            </a:r>
            <a:r>
              <a:rPr sz="1450">
                <a:solidFill>
                  <a:srgbClr val="1E293B"/>
                </a:solidFill>
              </a:rPr>
              <a:t>Universal FIB-4 screening triggers costly false-positive hepatology referrals in 63.8% of older adults. Reflex physical elastography is essential before specialist referral.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2. Dual-Biomarker Risk Stratification: </a:t>
            </a:r>
            <a:r>
              <a:rPr sz="1450">
                <a:solidFill>
                  <a:srgbClr val="1E293B"/>
                </a:solidFill>
              </a:rPr>
              <a:t>Co-elevated liver stiffness (≥8.0 kPa) and vascular inflammation (hs-CRP ≥2.0 mg/L) identifies a 5.9 pp excess prevalence of advanced CKM, enabling targeted multi-organ intervention.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3. Pharmacotherapy Guidance: </a:t>
            </a:r>
            <a:r>
              <a:rPr sz="1450">
                <a:solidFill>
                  <a:srgbClr val="1E293B"/>
                </a:solidFill>
              </a:rPr>
              <a:t>Patients with fibro-inflammatory CKM are optimal candidates for disease-modifying cardiometabolic agents (GLP-1 RAs, dual GIP/GLP-1 RAs, SGLT2i, and ns-MRAs).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644080" y="18745200"/>
            <a:ext cx="10149840" cy="548640"/>
          </a:xfrm>
          <a:prstGeom prst="rect">
            <a:avLst/>
          </a:prstGeom>
          <a:solidFill>
            <a:srgbClr val="0B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10. STRENGTHS &amp; LIMITATIONS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644080" y="19385280"/>
            <a:ext cx="1014984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Strengths: </a:t>
            </a:r>
            <a:r>
              <a:rPr sz="1450">
                <a:solidFill>
                  <a:srgbClr val="1E293B"/>
                </a:solidFill>
              </a:rPr>
              <a:t>Rigorous design-based survey variance (df = 40 across 79 stratum-PSU units); standardized VCTE exam protocols; validated CDC Roche Cobas hs-CRP bridges; race-free 2021 CKD-EPI equations; multi-scale interaction testing.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>
                <a:latin typeface="Arial"/>
              </a:defRPr>
            </a:pPr>
            <a:r>
              <a:rPr b="1" sz="1450">
                <a:solidFill>
                  <a:srgbClr val="00853E"/>
                </a:solidFill>
              </a:rPr>
              <a:t>▪ </a:t>
            </a:r>
            <a:r>
              <a:rPr b="1" sz="1450">
                <a:solidFill>
                  <a:srgbClr val="1E293B"/>
                </a:solidFill>
              </a:rPr>
              <a:t>Limitations: </a:t>
            </a:r>
            <a:r>
              <a:rPr sz="1450">
                <a:solidFill>
                  <a:srgbClr val="1E293B"/>
                </a:solidFill>
              </a:rPr>
              <a:t>Cross-sectional design precludes causal directionality; passive hepatic venous congestion in right heart failure can elevate VCTE stiffness; VCTE was evaluated against non-invasive criteria rather than liver biopsy.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644080" y="24688800"/>
            <a:ext cx="10149840" cy="502920"/>
          </a:xfrm>
          <a:prstGeom prst="rect">
            <a:avLst/>
          </a:prstGeom>
          <a:solidFill>
            <a:srgbClr val="00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11. OPEN SCIENCE &amp; REPRODUCIBILITY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644080" y="25283160"/>
            <a:ext cx="10149840" cy="5212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826960" y="25374600"/>
            <a:ext cx="978408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250"/>
              </a:spcAft>
              <a:defRPr>
                <a:latin typeface="Arial"/>
              </a:defRPr>
            </a:pPr>
            <a:r>
              <a:rPr b="1" sz="1200">
                <a:solidFill>
                  <a:srgbClr val="0B2347"/>
                </a:solidFill>
              </a:rPr>
              <a:t>✔ Public Data Source: </a:t>
            </a:r>
            <a:r>
              <a:rPr sz="1200">
                <a:solidFill>
                  <a:srgbClr val="1E293B"/>
                </a:solidFill>
              </a:rPr>
              <a:t>CDC NCHS Research Repository (wwwn.cdc.gov/nchs/nhanes/)</a:t>
            </a:r>
          </a:p>
          <a:p>
            <a:pPr>
              <a:spcAft>
                <a:spcPts val="250"/>
              </a:spcAft>
              <a:defRPr>
                <a:latin typeface="Arial"/>
              </a:defRPr>
            </a:pPr>
            <a:r>
              <a:rPr b="1" sz="1200">
                <a:solidFill>
                  <a:srgbClr val="0B2347"/>
                </a:solidFill>
              </a:rPr>
              <a:t>✔ Analytic Codebase: </a:t>
            </a:r>
            <a:r>
              <a:rPr sz="1200">
                <a:solidFill>
                  <a:srgbClr val="1E293B"/>
                </a:solidFill>
              </a:rPr>
              <a:t>Complete modular Python survey analysis pipeline (v2_01 to v2_05)</a:t>
            </a:r>
          </a:p>
          <a:p>
            <a:pPr>
              <a:spcAft>
                <a:spcPts val="250"/>
              </a:spcAft>
              <a:defRPr>
                <a:latin typeface="Arial"/>
              </a:defRPr>
            </a:pPr>
            <a:r>
              <a:rPr b="1" sz="1200">
                <a:solidFill>
                  <a:srgbClr val="0B2347"/>
                </a:solidFill>
              </a:rPr>
              <a:t>✔ Mathematical Audit: </a:t>
            </a:r>
            <a:r>
              <a:rPr sz="1200">
                <a:solidFill>
                  <a:srgbClr val="1E293B"/>
                </a:solidFill>
              </a:rPr>
              <a:t>100% verified concordance with statistical_output_v2.json (df = 40)</a:t>
            </a:r>
          </a:p>
          <a:p>
            <a:pPr>
              <a:spcAft>
                <a:spcPts val="250"/>
              </a:spcAft>
              <a:defRPr>
                <a:latin typeface="Arial"/>
              </a:defRPr>
            </a:pPr>
            <a:r>
              <a:rPr b="1" sz="1200">
                <a:solidFill>
                  <a:srgbClr val="0B2347"/>
                </a:solidFill>
              </a:rPr>
              <a:t>✔ Zenodo Archive: </a:t>
            </a:r>
            <a:r>
              <a:rPr sz="1200">
                <a:solidFill>
                  <a:srgbClr val="1E293B"/>
                </a:solidFill>
              </a:rPr>
              <a:t>DOI: 10.5281/zenodo.14022838 (Executable Reproduction Bundle)</a:t>
            </a:r>
          </a:p>
          <a:p>
            <a:pPr>
              <a:spcAft>
                <a:spcPts val="250"/>
              </a:spcAft>
              <a:defRPr>
                <a:latin typeface="Arial"/>
              </a:defRPr>
            </a:pPr>
            <a:r>
              <a:rPr b="1" sz="1200">
                <a:solidFill>
                  <a:srgbClr val="0B2347"/>
                </a:solidFill>
              </a:rPr>
              <a:t>✔ Conflicts of Interest: </a:t>
            </a:r>
            <a:r>
              <a:rPr sz="1200">
                <a:solidFill>
                  <a:srgbClr val="1E293B"/>
                </a:solidFill>
              </a:rPr>
              <a:t>The authors declare no financial, commercial, or personal conflicts.</a:t>
            </a:r>
          </a:p>
          <a:p>
            <a:pPr>
              <a:spcAft>
                <a:spcPts val="250"/>
              </a:spcAft>
              <a:defRPr>
                <a:latin typeface="Arial"/>
              </a:defRPr>
            </a:pPr>
            <a:r>
              <a:rPr b="1" sz="1200">
                <a:solidFill>
                  <a:srgbClr val="0B2347"/>
                </a:solidFill>
              </a:rPr>
              <a:t>✔ Funding Statement: </a:t>
            </a:r>
            <a:r>
              <a:rPr sz="1200">
                <a:solidFill>
                  <a:srgbClr val="1E293B"/>
                </a:solidFill>
              </a:rPr>
              <a:t>Independent scientific research; no industry or external grant support.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1089600"/>
            <a:ext cx="43891200" cy="1828800"/>
          </a:xfrm>
          <a:prstGeom prst="rect">
            <a:avLst/>
          </a:prstGeom>
          <a:solidFill>
            <a:srgbClr val="0B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1089600"/>
            <a:ext cx="43891200" cy="73152"/>
          </a:xfrm>
          <a:prstGeom prst="rect">
            <a:avLst/>
          </a:prstGeom>
          <a:solidFill>
            <a:srgbClr val="00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31318200"/>
            <a:ext cx="41696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Department of Biological Sciences, University of North Texas, Denton, TX 76203, USA   |   Correspondence: dhruvgambhirrao@my.unt.edu</a:t>
            </a:r>
          </a:p>
          <a:p>
            <a:pPr algn="ctr">
              <a:defRPr sz="1300">
                <a:solidFill>
                  <a:srgbClr val="CBD5E1"/>
                </a:solidFill>
                <a:latin typeface="Arial"/>
              </a:defRPr>
            </a:pPr>
            <a:r>
              <a:t>Target Journals: Journal of General Internal Medicine (JGIM) / Nutrition, Metabolism and Cardiovascular Diseases (NMCD)   |   SGIM Annual Meeting Research Showcase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